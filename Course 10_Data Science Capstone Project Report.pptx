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1" r:id="rId10"/>
    <p:sldId id="270" r:id="rId11"/>
    <p:sldId id="266" r:id="rId12"/>
    <p:sldId id="272" r:id="rId13"/>
    <p:sldId id="273" r:id="rId14"/>
    <p:sldId id="274" r:id="rId15"/>
    <p:sldId id="276" r:id="rId16"/>
    <p:sldId id="275" r:id="rId17"/>
    <p:sldId id="264" r:id="rId18"/>
    <p:sldId id="267" r:id="rId19"/>
    <p:sldId id="279" r:id="rId20"/>
    <p:sldId id="268" r:id="rId21"/>
    <p:sldId id="269" r:id="rId22"/>
    <p:sldId id="277" r:id="rId23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1" autoAdjust="0"/>
    <p:restoredTop sz="94660"/>
  </p:normalViewPr>
  <p:slideViewPr>
    <p:cSldViewPr>
      <p:cViewPr varScale="1">
        <p:scale>
          <a:sx n="190" d="100"/>
          <a:sy n="190" d="100"/>
        </p:scale>
        <p:origin x="348" y="7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2EAE6-217E-4D6E-A609-154B244E2020}" type="datetimeFigureOut">
              <a:rPr lang="en-001" smtClean="0"/>
              <a:t>07/26/2026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B84A6-CF02-4231-BCEB-6B6DEA83939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1436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B84A6-CF02-4231-BCEB-6B6DEA839391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55330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B84A6-CF02-4231-BCEB-6B6DEA839391}" type="slidenum">
              <a:rPr lang="en-001" smtClean="0"/>
              <a:t>16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23245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54DD-C5A5-0241-2344-A6FB2ACB0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725" y="531044"/>
            <a:ext cx="4324350" cy="1129689"/>
          </a:xfrm>
        </p:spPr>
        <p:txBody>
          <a:bodyPr anchor="b"/>
          <a:lstStyle>
            <a:lvl1pPr algn="ctr">
              <a:defRPr sz="28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BBF88-4B20-ADD3-F48A-2D7E69A2F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725" y="1704297"/>
            <a:ext cx="4324350" cy="783421"/>
          </a:xfrm>
        </p:spPr>
        <p:txBody>
          <a:bodyPr/>
          <a:lstStyle>
            <a:lvl1pPr marL="0" indent="0" algn="ctr">
              <a:buNone/>
              <a:defRPr sz="1135"/>
            </a:lvl1pPr>
            <a:lvl2pPr marL="216210" indent="0" algn="ctr">
              <a:buNone/>
              <a:defRPr sz="946"/>
            </a:lvl2pPr>
            <a:lvl3pPr marL="432420" indent="0" algn="ctr">
              <a:buNone/>
              <a:defRPr sz="851"/>
            </a:lvl3pPr>
            <a:lvl4pPr marL="648630" indent="0" algn="ctr">
              <a:buNone/>
              <a:defRPr sz="757"/>
            </a:lvl4pPr>
            <a:lvl5pPr marL="864840" indent="0" algn="ctr">
              <a:buNone/>
              <a:defRPr sz="757"/>
            </a:lvl5pPr>
            <a:lvl6pPr marL="1081049" indent="0" algn="ctr">
              <a:buNone/>
              <a:defRPr sz="757"/>
            </a:lvl6pPr>
            <a:lvl7pPr marL="1297259" indent="0" algn="ctr">
              <a:buNone/>
              <a:defRPr sz="757"/>
            </a:lvl7pPr>
            <a:lvl8pPr marL="1513469" indent="0" algn="ctr">
              <a:buNone/>
              <a:defRPr sz="757"/>
            </a:lvl8pPr>
            <a:lvl9pPr marL="1729679" indent="0" algn="ctr">
              <a:buNone/>
              <a:defRPr sz="75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A551-61E6-F587-DAA0-12ECC07E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A4936-15CD-3C97-0294-31578BCC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May</a:t>
            </a:r>
            <a:r>
              <a:rPr lang="fr-FR" spc="-15" dirty="0"/>
              <a:t> </a:t>
            </a:r>
            <a:r>
              <a:rPr lang="fr-FR" spc="-35" dirty="0"/>
              <a:t>30,</a:t>
            </a:r>
            <a:r>
              <a:rPr lang="fr-FR" spc="-60" dirty="0"/>
              <a:t> </a:t>
            </a:r>
            <a:r>
              <a:rPr lang="fr-FR" spc="-20" dirty="0"/>
              <a:t>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F5935-2630-41CC-CE35-6281B34A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55197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E311-87AF-79D1-1B2B-B62B5102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5BA9-E719-009B-30C5-C774BD704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AC6B4-CB85-1276-C911-CD668A53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E9ADA-37FB-FF3C-00CA-B11C830D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May</a:t>
            </a:r>
            <a:r>
              <a:rPr lang="fr-FR" spc="-15" dirty="0"/>
              <a:t> </a:t>
            </a:r>
            <a:r>
              <a:rPr lang="fr-FR" spc="-35" dirty="0"/>
              <a:t>30,</a:t>
            </a:r>
            <a:r>
              <a:rPr lang="fr-FR" spc="-60" dirty="0"/>
              <a:t> </a:t>
            </a:r>
            <a:r>
              <a:rPr lang="fr-FR" spc="-20" dirty="0"/>
              <a:t>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BE840-C454-7E2E-9FE9-93426353E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81080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E755-C752-D507-6A00-E25C7500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95" y="808960"/>
            <a:ext cx="4973003" cy="1349767"/>
          </a:xfrm>
        </p:spPr>
        <p:txBody>
          <a:bodyPr anchor="b"/>
          <a:lstStyle>
            <a:lvl1pPr>
              <a:defRPr sz="28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C89ED-E389-DB7B-078F-8D1F28D42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395" y="2171496"/>
            <a:ext cx="4973003" cy="709811"/>
          </a:xfrm>
        </p:spPr>
        <p:txBody>
          <a:bodyPr/>
          <a:lstStyle>
            <a:lvl1pPr marL="0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1pPr>
            <a:lvl2pPr marL="216210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63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03003-E523-5AB8-8156-DB82FD41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02403-2C6B-31B7-7990-B1EDAB42F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May</a:t>
            </a:r>
            <a:r>
              <a:rPr lang="fr-FR" spc="-15" dirty="0"/>
              <a:t> </a:t>
            </a:r>
            <a:r>
              <a:rPr lang="fr-FR" spc="-35" dirty="0"/>
              <a:t>30,</a:t>
            </a:r>
            <a:r>
              <a:rPr lang="fr-FR" spc="-60" dirty="0"/>
              <a:t> </a:t>
            </a:r>
            <a:r>
              <a:rPr lang="fr-FR" spc="-20" dirty="0"/>
              <a:t>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FF6CD-E126-A5E7-B0E2-9EEAA80C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69288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A2C4-F9E1-7154-2C7F-695866DE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A49C3-85FD-9AE0-7D44-B33C30C00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399" y="863791"/>
            <a:ext cx="2450465" cy="205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382D4-0B07-5E44-B7D3-7DA0F1D29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8936" y="863791"/>
            <a:ext cx="2450465" cy="205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58328-A8C9-D8EB-59D6-A471AFD2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572C3-7D47-8168-7A21-631C1B5B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May</a:t>
            </a:r>
            <a:r>
              <a:rPr lang="fr-FR" spc="-15" dirty="0"/>
              <a:t> </a:t>
            </a:r>
            <a:r>
              <a:rPr lang="fr-FR" spc="-35" dirty="0"/>
              <a:t>30,</a:t>
            </a:r>
            <a:r>
              <a:rPr lang="fr-FR" spc="-60" dirty="0"/>
              <a:t> </a:t>
            </a:r>
            <a:r>
              <a:rPr lang="fr-FR" spc="-20" dirty="0"/>
              <a:t>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BE70F-F3FD-B9C8-54F9-B1A5D1FF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49796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A96BD-19D2-6D30-12A8-85B30547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49" y="172758"/>
            <a:ext cx="4973003" cy="627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21AEB-D900-2050-6F99-FFD5BEF17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150" y="795439"/>
            <a:ext cx="2439203" cy="389832"/>
          </a:xfrm>
        </p:spPr>
        <p:txBody>
          <a:bodyPr anchor="b"/>
          <a:lstStyle>
            <a:lvl1pPr marL="0" indent="0">
              <a:buNone/>
              <a:defRPr sz="1135" b="1"/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66A50-6EBB-13CE-74DC-B2BBC59FF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7150" y="1185272"/>
            <a:ext cx="2439203" cy="174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CB41F-16A5-CCB5-7376-CBAD53F13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18936" y="795439"/>
            <a:ext cx="2451216" cy="389832"/>
          </a:xfrm>
        </p:spPr>
        <p:txBody>
          <a:bodyPr anchor="b"/>
          <a:lstStyle>
            <a:lvl1pPr marL="0" indent="0">
              <a:buNone/>
              <a:defRPr sz="1135" b="1"/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F51E55-A6ED-5251-8509-77ADCBD70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18936" y="1185272"/>
            <a:ext cx="2451216" cy="174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482781-6C0A-0A58-B887-ECB12D4E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9CFA6-E5A9-1FF9-ED65-6E2528310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May</a:t>
            </a:r>
            <a:r>
              <a:rPr lang="fr-FR" spc="-15" dirty="0"/>
              <a:t> </a:t>
            </a:r>
            <a:r>
              <a:rPr lang="fr-FR" spc="-35" dirty="0"/>
              <a:t>30,</a:t>
            </a:r>
            <a:r>
              <a:rPr lang="fr-FR" spc="-60" dirty="0"/>
              <a:t> </a:t>
            </a:r>
            <a:r>
              <a:rPr lang="fr-FR" spc="-20" dirty="0"/>
              <a:t>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328A6E-C4D2-23F1-42A0-514C3EA5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418806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20D9-F4BF-4DD8-EADE-8838DE67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E00841-7FE6-C170-7490-109BD7F1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D4259-ADEB-1C74-1F17-B1EA611A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F8049-C6BB-4BC5-937A-1D768F13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44712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91DF6-4A36-5832-265A-8E7A7F91C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4F7D0-8134-170B-1493-79474C7C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60C19-11AE-884A-6DF0-158774F0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606607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CF36-F40B-F9F3-59CE-A0F6CE586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0" y="216323"/>
            <a:ext cx="1859620" cy="757132"/>
          </a:xfrm>
        </p:spPr>
        <p:txBody>
          <a:bodyPr anchor="b"/>
          <a:lstStyle>
            <a:lvl1pPr>
              <a:defRPr sz="15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EAB2D-CAAE-2800-A614-445163E2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216" y="467198"/>
            <a:ext cx="2918936" cy="2305947"/>
          </a:xfrm>
        </p:spPr>
        <p:txBody>
          <a:bodyPr/>
          <a:lstStyle>
            <a:lvl1pPr>
              <a:defRPr sz="1513"/>
            </a:lvl1pPr>
            <a:lvl2pPr>
              <a:defRPr sz="1324"/>
            </a:lvl2pPr>
            <a:lvl3pPr>
              <a:defRPr sz="1135"/>
            </a:lvl3pPr>
            <a:lvl4pPr>
              <a:defRPr sz="946"/>
            </a:lvl4pPr>
            <a:lvl5pPr>
              <a:defRPr sz="946"/>
            </a:lvl5pPr>
            <a:lvl6pPr>
              <a:defRPr sz="946"/>
            </a:lvl6pPr>
            <a:lvl7pPr>
              <a:defRPr sz="946"/>
            </a:lvl7pPr>
            <a:lvl8pPr>
              <a:defRPr sz="946"/>
            </a:lvl8pPr>
            <a:lvl9pPr>
              <a:defRPr sz="9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51745-7981-ED8B-5547-674AE49C8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7150" y="973455"/>
            <a:ext cx="1859620" cy="1803446"/>
          </a:xfrm>
        </p:spPr>
        <p:txBody>
          <a:bodyPr/>
          <a:lstStyle>
            <a:lvl1pPr marL="0" indent="0"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1BFD3-7DC9-37A6-48E6-59032E97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1D1F4-6836-C7DB-DD19-5039FC1FE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48B91-795F-8A31-424C-3C74825D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29842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7A69-5324-2702-544D-8FEB417E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0" y="216323"/>
            <a:ext cx="1859620" cy="757132"/>
          </a:xfrm>
        </p:spPr>
        <p:txBody>
          <a:bodyPr anchor="b"/>
          <a:lstStyle>
            <a:lvl1pPr>
              <a:defRPr sz="151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2453B-FDE8-8697-9C3E-35D705735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51216" y="467198"/>
            <a:ext cx="2918936" cy="2305947"/>
          </a:xfrm>
        </p:spPr>
        <p:txBody>
          <a:bodyPr/>
          <a:lstStyle>
            <a:lvl1pPr marL="0" indent="0">
              <a:buNone/>
              <a:defRPr sz="1513"/>
            </a:lvl1pPr>
            <a:lvl2pPr marL="216210" indent="0">
              <a:buNone/>
              <a:defRPr sz="1324"/>
            </a:lvl2pPr>
            <a:lvl3pPr marL="432420" indent="0">
              <a:buNone/>
              <a:defRPr sz="1135"/>
            </a:lvl3pPr>
            <a:lvl4pPr marL="648630" indent="0">
              <a:buNone/>
              <a:defRPr sz="946"/>
            </a:lvl4pPr>
            <a:lvl5pPr marL="864840" indent="0">
              <a:buNone/>
              <a:defRPr sz="946"/>
            </a:lvl5pPr>
            <a:lvl6pPr marL="1081049" indent="0">
              <a:buNone/>
              <a:defRPr sz="946"/>
            </a:lvl6pPr>
            <a:lvl7pPr marL="1297259" indent="0">
              <a:buNone/>
              <a:defRPr sz="946"/>
            </a:lvl7pPr>
            <a:lvl8pPr marL="1513469" indent="0">
              <a:buNone/>
              <a:defRPr sz="946"/>
            </a:lvl8pPr>
            <a:lvl9pPr marL="1729679" indent="0">
              <a:buNone/>
              <a:defRPr sz="946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E630D-5D5D-90ED-24AC-0291558B8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7150" y="973455"/>
            <a:ext cx="1859620" cy="1803446"/>
          </a:xfrm>
        </p:spPr>
        <p:txBody>
          <a:bodyPr/>
          <a:lstStyle>
            <a:lvl1pPr marL="0" indent="0"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71288-0847-51AF-BB84-4298F11B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20503-85F9-2860-FDEF-D255D5C8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97207-FE8C-2176-841A-0B146ED9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11389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3ADF-8683-7D40-51DE-697FAE0F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E5701-1BED-0D77-5ECA-45A9407B9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690F-11A2-0178-40B1-8A27A16F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F58-5D26-A948-A705-A81304A4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C3A38-D20E-BEF7-E8A4-7F4B49DB9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136518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080FFF-E5BE-AC29-F08D-C2E6FA886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126150" y="172758"/>
            <a:ext cx="1243251" cy="27498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C3513-58EC-8862-6E77-EFDCDDC49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6399" y="172758"/>
            <a:ext cx="3657679" cy="27498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F50BC-DA2D-EFC1-E0D2-404F27AB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EF235-9BA8-F8D2-5C3F-ECFEFCEC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/>
              <a:t>May</a:t>
            </a:r>
            <a:r>
              <a:rPr lang="fr-FR" spc="-15"/>
              <a:t> </a:t>
            </a:r>
            <a:r>
              <a:rPr lang="fr-FR" spc="-35"/>
              <a:t>30,</a:t>
            </a:r>
            <a:r>
              <a:rPr lang="fr-FR" spc="-60"/>
              <a:t> </a:t>
            </a:r>
            <a:r>
              <a:rPr lang="fr-FR" spc="-20"/>
              <a:t>2026</a:t>
            </a:r>
            <a:endParaRPr lang="fr-FR" spc="-2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72907-B6B8-2804-B877-6D10E43D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19049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F1EFE-9533-E7A5-D49A-F13B5D1D3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99" y="172758"/>
            <a:ext cx="4973003" cy="627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6F8AB-1E7D-04B7-D2F4-6C1596CF7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99" y="863791"/>
            <a:ext cx="4973003" cy="2058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DA6A-CA98-C1B5-378F-7517692C7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399" y="3007496"/>
            <a:ext cx="129730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E0196-2BC3-EA2F-1ACB-11C4186BD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9921" y="3007496"/>
            <a:ext cx="1945958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spcBef>
                <a:spcPts val="40"/>
              </a:spcBef>
            </a:pPr>
            <a:r>
              <a:rPr lang="fr-FR" spc="-10" dirty="0"/>
              <a:t>May</a:t>
            </a:r>
            <a:r>
              <a:rPr lang="fr-FR" spc="-15" dirty="0"/>
              <a:t> </a:t>
            </a:r>
            <a:r>
              <a:rPr lang="fr-FR" spc="-35" dirty="0"/>
              <a:t>30,</a:t>
            </a:r>
            <a:r>
              <a:rPr lang="fr-FR" spc="-60" dirty="0"/>
              <a:t> </a:t>
            </a:r>
            <a:r>
              <a:rPr lang="fr-FR" spc="-20" dirty="0"/>
              <a:t>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ECB89-B0FD-1F90-0E81-B6E5CC434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72096" y="3007496"/>
            <a:ext cx="1297305" cy="172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001" spc="-20" smtClean="0"/>
              <a:t>‹#›</a:t>
            </a:fld>
            <a:r>
              <a:rPr lang="en-001" spc="-20"/>
              <a:t>/14</a:t>
            </a:r>
            <a:endParaRPr lang="en-001" spc="-20" dirty="0"/>
          </a:p>
        </p:txBody>
      </p:sp>
    </p:spTree>
    <p:extLst>
      <p:ext uri="{BB962C8B-B14F-4D97-AF65-F5344CB8AC3E}">
        <p14:creationId xmlns:p14="http://schemas.microsoft.com/office/powerpoint/2010/main" val="307967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2420" rtl="0" eaLnBrk="1" latinLnBrk="0" hangingPunct="1">
        <a:lnSpc>
          <a:spcPct val="90000"/>
        </a:lnSpc>
        <a:spcBef>
          <a:spcPct val="0"/>
        </a:spcBef>
        <a:buNone/>
        <a:defRPr sz="20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105" indent="-108105" algn="l" defTabSz="432420" rtl="0" eaLnBrk="1" latinLnBrk="0" hangingPunct="1">
        <a:lnSpc>
          <a:spcPct val="90000"/>
        </a:lnSpc>
        <a:spcBef>
          <a:spcPts val="473"/>
        </a:spcBef>
        <a:buFont typeface="Arial" panose="020B0604020202020204" pitchFamily="34" charset="0"/>
        <a:buChar char="•"/>
        <a:defRPr sz="1324" kern="1200">
          <a:solidFill>
            <a:schemeClr val="tx1"/>
          </a:solidFill>
          <a:latin typeface="+mn-lt"/>
          <a:ea typeface="+mn-ea"/>
          <a:cs typeface="+mn-cs"/>
        </a:defRPr>
      </a:lvl1pPr>
      <a:lvl2pPr marL="32431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4052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6" kern="1200">
          <a:solidFill>
            <a:schemeClr val="tx1"/>
          </a:solidFill>
          <a:latin typeface="+mn-lt"/>
          <a:ea typeface="+mn-ea"/>
          <a:cs typeface="+mn-cs"/>
        </a:defRPr>
      </a:lvl3pPr>
      <a:lvl4pPr marL="756735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94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915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536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157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7784" indent="-108105" algn="l" defTabSz="43242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21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42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63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84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104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725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346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967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4" y="687001"/>
            <a:ext cx="5584825" cy="48410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85725" algn="ctr">
              <a:lnSpc>
                <a:spcPct val="100000"/>
              </a:lnSpc>
              <a:spcBef>
                <a:spcPts val="475"/>
              </a:spcBef>
            </a:pP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4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Capstone</a:t>
            </a:r>
            <a:r>
              <a:rPr sz="1400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4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4455" algn="ctr">
              <a:lnSpc>
                <a:spcPct val="100000"/>
              </a:lnSpc>
              <a:spcBef>
                <a:spcPts val="335"/>
              </a:spcBef>
            </a:pPr>
            <a:r>
              <a:rPr sz="11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14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sz="11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sz="11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631825"/>
            <a:ext cx="3657600" cy="1844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PHẠM THỊ KHÁNH LINH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Coursera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lang="en-US"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26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729029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111134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883270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2093302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7311" y="412029"/>
            <a:ext cx="5292932" cy="2420791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60960">
              <a:lnSpc>
                <a:spcPct val="105800"/>
              </a:lnSpc>
              <a:spcBef>
                <a:spcPts val="270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Falcon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$62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million,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cheaper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5800"/>
              </a:lnSpc>
              <a:spcBef>
                <a:spcPts val="300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SpaceX’s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310515">
              <a:lnSpc>
                <a:spcPct val="114100"/>
              </a:lnSpc>
              <a:spcBef>
                <a:spcPts val="195"/>
              </a:spcBef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successfully.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644436"/>
            <a:ext cx="78713" cy="7871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845094"/>
            <a:ext cx="78713" cy="787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217814"/>
            <a:ext cx="78713" cy="7871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590547"/>
            <a:ext cx="78713" cy="7871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650" y="1807604"/>
            <a:ext cx="78713" cy="7871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651" y="2219694"/>
            <a:ext cx="78713" cy="7871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41300" y="327025"/>
            <a:ext cx="5361724" cy="2222916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83185" algn="just">
              <a:lnSpc>
                <a:spcPts val="1520"/>
              </a:lnSpc>
              <a:spcBef>
                <a:spcPts val="5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Collection: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Utilized</a:t>
            </a:r>
            <a:r>
              <a:rPr sz="11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SpaceX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Wikipedia.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Wrangling: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sz="11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173355">
              <a:lnSpc>
                <a:spcPct val="106300"/>
              </a:lnSpc>
              <a:spcBef>
                <a:spcPts val="204"/>
              </a:spcBef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EDA:</a:t>
            </a:r>
            <a:r>
              <a:rPr sz="11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</a:t>
            </a:r>
            <a:r>
              <a:rPr sz="11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</a:t>
            </a:r>
            <a:r>
              <a:rPr sz="11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1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sz="11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(DB2)</a:t>
            </a:r>
            <a:r>
              <a:rPr sz="11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(Matplotlib/Seaborn).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200"/>
              </a:lnSpc>
              <a:spcBef>
                <a:spcPts val="180"/>
              </a:spcBef>
            </a:pP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Folium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 Dash.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17780">
              <a:lnSpc>
                <a:spcPct val="106200"/>
              </a:lnSpc>
              <a:spcBef>
                <a:spcPts val="175"/>
              </a:spcBef>
            </a:pP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r>
              <a:rPr sz="11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Regression,</a:t>
            </a:r>
            <a:r>
              <a:rPr sz="11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SVM,</a:t>
            </a:r>
            <a:r>
              <a:rPr sz="11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Tree,</a:t>
            </a:r>
            <a:r>
              <a:rPr sz="11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11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305435">
              <a:lnSpc>
                <a:spcPts val="1650"/>
              </a:lnSpc>
              <a:spcBef>
                <a:spcPts val="55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700" y="0"/>
            <a:ext cx="4756785" cy="6864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spc="-25" dirty="0"/>
              <a:t>Collection</a:t>
            </a:r>
            <a:r>
              <a:rPr spc="-7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SpaceX</a:t>
            </a:r>
            <a:r>
              <a:rPr spc="-55" dirty="0"/>
              <a:t> </a:t>
            </a:r>
            <a:r>
              <a:rPr spc="-25" dirty="0"/>
              <a:t>API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096072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306106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516138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726171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5900" y="871309"/>
            <a:ext cx="5126990" cy="1788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rocket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SpaceX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requests.get().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87630">
              <a:lnSpc>
                <a:spcPct val="129200"/>
              </a:lnSpc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DataFrame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json_normalize.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Falcon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66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https://github.com/linhptk2920/IBM-Data-Science-Capstone/blob/main/jupyter-labs-spacex-data-collection-api.ipynb</a:t>
            </a:r>
            <a:endParaRPr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35" dirty="0"/>
              <a:t> </a:t>
            </a:r>
            <a:r>
              <a:rPr spc="-25" dirty="0"/>
              <a:t>Collection</a:t>
            </a:r>
            <a:r>
              <a:rPr spc="-5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Web</a:t>
            </a:r>
            <a:r>
              <a:rPr spc="-35" dirty="0"/>
              <a:t> </a:t>
            </a:r>
            <a:r>
              <a:rPr spc="-10" dirty="0"/>
              <a:t>Scraping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027238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237270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447304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657337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2771" y="822029"/>
            <a:ext cx="5500257" cy="178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Requested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Falcon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marR="853440">
              <a:lnSpc>
                <a:spcPct val="129200"/>
              </a:lnSpc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sz="11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library.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headers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(&lt;th&gt;).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5800"/>
              </a:lnSpc>
              <a:spcBef>
                <a:spcPts val="57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Iterated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(&lt;tr&gt;)</a:t>
            </a:r>
            <a:r>
              <a:rPr sz="11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(&lt;td&gt;)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DataFrame.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https://github.com/linhptk2920/IBM-Data-Science-Capstone/blob/main/jupyter-labs-webscraping.ipynb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Wrangling</a:t>
            </a:r>
            <a:r>
              <a:rPr spc="-60" dirty="0"/>
              <a:t> </a:t>
            </a:r>
            <a:r>
              <a:rPr spc="-10" dirty="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958418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340523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550555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7651" y="1932660"/>
            <a:ext cx="78713" cy="787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43" y="619956"/>
            <a:ext cx="4996180" cy="218752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380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75"/>
              </a:spcBef>
            </a:pP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11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Success,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200"/>
              </a:lnSpc>
              <a:spcBef>
                <a:spcPts val="229"/>
              </a:spcBef>
            </a:pP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pd.get_dummies()</a:t>
            </a:r>
            <a:r>
              <a:rPr sz="11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Orbit,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LaunchSite,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LandingPad,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float64</a:t>
            </a:r>
            <a:r>
              <a:rPr sz="1100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Wrangling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https://github.com/linhptk2920/IBM-Data-Science-Capstone/blob/main/labs-jupyter-spacex-Data-wrangling.ipynb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6900" y="345543"/>
            <a:ext cx="4038600" cy="36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xfrm>
            <a:off x="4438344" y="3118672"/>
            <a:ext cx="455295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5413184" y="3116140"/>
            <a:ext cx="235585" cy="9746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/14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651" y="1111261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51" y="1493367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7651" y="1703400"/>
            <a:ext cx="78713" cy="7871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9700" y="784225"/>
            <a:ext cx="4812030" cy="20265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1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b="1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1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300"/>
              </a:lnSpc>
              <a:spcBef>
                <a:spcPts val="265"/>
              </a:spcBef>
            </a:pP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Plots:</a:t>
            </a:r>
            <a:r>
              <a:rPr sz="11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</a:t>
            </a:r>
            <a:r>
              <a:rPr sz="1100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1100" i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i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100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sz="1100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1100" i="1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sz="1100" i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colored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409"/>
              </a:spcBef>
            </a:pP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Charts: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Orbit</a:t>
            </a:r>
            <a:r>
              <a:rPr sz="1100" i="1"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84"/>
              </a:spcBef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Charts: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100" i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sz="1100" i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sz="1100" i="1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i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sz="1100" i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(annual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trends).</a:t>
            </a:r>
            <a:endParaRPr lang="en-US" sz="11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>
              <a:lnSpc>
                <a:spcPct val="100000"/>
              </a:lnSpc>
              <a:spcBef>
                <a:spcPts val="384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11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100" b="1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sz="11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https://github.com/linhptk2920/IBM-Data-Science-Capstone/blob/main/jupyter-labs-eda-sql-coursera_sqllite.ipynb</a:t>
            </a:r>
            <a:endParaRPr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99" y="43875"/>
            <a:ext cx="4006801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45" dirty="0"/>
              <a:t> </a:t>
            </a:r>
            <a:r>
              <a:rPr spc="-30" dirty="0"/>
              <a:t>Visualization</a:t>
            </a:r>
            <a:r>
              <a:rPr spc="-55" dirty="0"/>
              <a:t> </a:t>
            </a:r>
            <a:r>
              <a:rPr spc="-10" dirty="0"/>
              <a:t>Results</a:t>
            </a:r>
            <a:r>
              <a:rPr lang="en-US" spc="-10" dirty="0"/>
              <a:t> 1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xfrm>
            <a:off x="1909921" y="3047676"/>
            <a:ext cx="1945958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fr-FR" spc="-10" dirty="0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0496" y="885176"/>
            <a:ext cx="3919220" cy="584775"/>
          </a:xfrm>
          <a:prstGeom prst="rect">
            <a:avLst/>
          </a:prstGeom>
          <a:ln w="50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100" dirty="0">
              <a:latin typeface="Times New Roman"/>
              <a:cs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F8FBFC-CAE5-5A49-83E2-D7A6EF05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" y="784226"/>
            <a:ext cx="5454602" cy="22097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AE31-31E2-5FE3-9BB5-0226D0C4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4F772F4-CD63-38B5-80E5-3701E8B11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499" y="403225"/>
            <a:ext cx="3702001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45" dirty="0"/>
              <a:t> </a:t>
            </a:r>
            <a:r>
              <a:rPr spc="-30" dirty="0"/>
              <a:t>Visualization</a:t>
            </a:r>
            <a:r>
              <a:rPr spc="-55" dirty="0"/>
              <a:t> </a:t>
            </a:r>
            <a:r>
              <a:rPr spc="-10" dirty="0"/>
              <a:t>Results</a:t>
            </a:r>
            <a:r>
              <a:rPr lang="en-US" spc="-10" dirty="0"/>
              <a:t> 2</a:t>
            </a:r>
            <a:endParaRPr spc="-1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77FB91-6CEB-331C-B75D-10C473162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860425"/>
            <a:ext cx="3810000" cy="240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31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AB8F-7F2A-CFC7-EF71-3192964D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27" y="250825"/>
            <a:ext cx="2493645" cy="215444"/>
          </a:xfrm>
        </p:spPr>
        <p:txBody>
          <a:bodyPr>
            <a:normAutofit fontScale="90000"/>
          </a:bodyPr>
          <a:lstStyle/>
          <a:p>
            <a:r>
              <a:rPr lang="fr-FR" dirty="0"/>
              <a:t>EDA </a:t>
            </a:r>
            <a:r>
              <a:rPr lang="fr-FR" dirty="0" err="1"/>
              <a:t>with</a:t>
            </a:r>
            <a:r>
              <a:rPr lang="fr-FR" dirty="0"/>
              <a:t> SQL</a:t>
            </a:r>
            <a:endParaRPr lang="en-00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E5363-AE98-9FB1-1528-50F3FC22B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702365"/>
            <a:ext cx="5639958" cy="1840119"/>
          </a:xfrm>
        </p:spPr>
        <p:txBody>
          <a:bodyPr>
            <a:normAutofit fontScale="85000" lnSpcReduction="20000"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Performed: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Queried unique Launch Sites from the database. 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total Payload Mass carried by boosters.</a:t>
            </a:r>
          </a:p>
          <a:p>
            <a:pPr marL="460375" indent="-171450">
              <a:lnSpc>
                <a:spcPct val="100000"/>
              </a:lnSpc>
              <a:spcBef>
                <a:spcPts val="45"/>
              </a:spcBef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Counted successful landings at specific sites (e.g., CCAFS).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records of specific mission outcomes based on payload mass ranges.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Ranked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</a:t>
            </a:r>
            <a:r>
              <a:rPr lang="en-US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BY.</a:t>
            </a:r>
          </a:p>
          <a:p>
            <a:pPr marL="460375" marR="5080" indent="-171450">
              <a:lnSpc>
                <a:spcPct val="129200"/>
              </a:lnSpc>
              <a:buFont typeface="Wingdings" panose="05000000000000000000" pitchFamily="2" charset="2"/>
              <a:buChar char="ü"/>
            </a:pP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analysis to observe successful landing trends over specific months/years</a:t>
            </a:r>
          </a:p>
          <a:p>
            <a:pPr marL="12700">
              <a:lnSpc>
                <a:spcPct val="100000"/>
              </a:lnSpc>
            </a:pPr>
            <a:r>
              <a:rPr lang="en-US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Notebook: </a:t>
            </a:r>
            <a:r>
              <a:rPr lang="fr-F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https://github.com/linhptk2920/IBM-Data-Science-Capstone/blob/main/jupyter-labs-eda-sql-coursera_sqllite.ipynb</a:t>
            </a:r>
            <a:endParaRPr lang="en-00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8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E2E7E1-E89F-ACCB-1397-82C1577E5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98" y="708025"/>
            <a:ext cx="4467701" cy="2494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07522-7CC3-6F94-CE82-7EA97901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E61560-7C41-5B92-0952-DBE8B498E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214203"/>
            <a:ext cx="4912544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5305E01-B2E3-42CA-446F-4C8475EFCD7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909921" y="3047676"/>
            <a:ext cx="1945958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833F23-DE82-D003-1C1C-AEEFC3347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02" y="936625"/>
            <a:ext cx="5197764" cy="188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47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AE8B-870C-4858-DF84-2BA876BF4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CE94DF-9047-C084-881E-3F76E08A3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2DB84B3-537F-02AE-A57E-54432690DAB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909921" y="3047676"/>
            <a:ext cx="1945958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20A7B7-4BB9-F620-3090-95F315A3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708025"/>
            <a:ext cx="4463779" cy="200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72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0579-CAE8-EECC-0FE7-B6F09FAF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8D82F7-F7D7-B7DD-3DB4-5BAD7A6A1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984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B603649-F285-8917-806C-58097E23303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743259" y="3107485"/>
            <a:ext cx="2280784" cy="706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 err="1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AB0181-A770-CAA5-60BF-B7ABAB72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708025"/>
            <a:ext cx="4724400" cy="235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8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06D8-C24A-659D-5405-7ACA5EA1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B33B9E-85F7-CED6-3435-C8306AD82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FDC4C02-2BFF-2D2E-5A7D-09A46160A6E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743259" y="3107485"/>
            <a:ext cx="2280784" cy="706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 err="1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118BD4-A761-82FD-924C-3A5529956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863835"/>
            <a:ext cx="5016500" cy="21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24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BD00-193D-981E-85A8-219AF801F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62BB698-D755-DCF9-4457-E99BEDBB2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222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EDA</a:t>
            </a:r>
            <a:r>
              <a:rPr spc="-100" dirty="0"/>
              <a:t> </a:t>
            </a:r>
            <a:r>
              <a:rPr spc="-10" dirty="0"/>
              <a:t>with</a:t>
            </a:r>
            <a:r>
              <a:rPr spc="-75" dirty="0"/>
              <a:t> </a:t>
            </a:r>
            <a:r>
              <a:rPr dirty="0"/>
              <a:t>SQL</a:t>
            </a:r>
            <a:r>
              <a:rPr spc="-75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FA6A52A-400D-8E6C-1F7A-7B76EF80478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743259" y="3107485"/>
            <a:ext cx="2280784" cy="706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/>
              <a:t>July 26</a:t>
            </a:r>
            <a:r>
              <a:rPr spc="-15" dirty="0"/>
              <a:t> 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FB1C9F-0AD6-0D67-8284-50650E3C8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" y="495049"/>
            <a:ext cx="5555515" cy="1315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6D79C9-3E46-5D7D-2A6F-720F456E4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42" y="1759592"/>
            <a:ext cx="5315685" cy="149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63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343" y="166073"/>
            <a:ext cx="3778201" cy="31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1168296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900" y="975947"/>
            <a:ext cx="78713" cy="78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900" y="1358064"/>
            <a:ext cx="78713" cy="787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900" y="1787809"/>
            <a:ext cx="78713" cy="787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6900" y="2207874"/>
            <a:ext cx="78713" cy="787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900" y="1997841"/>
            <a:ext cx="78713" cy="787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4501" y="631825"/>
            <a:ext cx="5181600" cy="218495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1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Folium</a:t>
            </a:r>
            <a:r>
              <a:rPr sz="1100" b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380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Plotted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marR="405765">
              <a:lnSpc>
                <a:spcPct val="105800"/>
              </a:lnSpc>
              <a:spcBef>
                <a:spcPts val="219"/>
              </a:spcBef>
            </a:pP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Marker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(green)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(red) launches.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 marR="5080">
              <a:lnSpc>
                <a:spcPct val="105800"/>
              </a:lnSpc>
              <a:spcBef>
                <a:spcPts val="254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proximity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distances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railways,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highways,</a:t>
            </a:r>
            <a:r>
              <a:rPr sz="11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coastlines.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sz="11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</a:t>
            </a:r>
            <a:r>
              <a:rPr sz="11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45"/>
              </a:spcBef>
            </a:pP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dropdowns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sliders.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385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</a:t>
            </a:r>
            <a:r>
              <a:rPr sz="1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8925">
              <a:lnSpc>
                <a:spcPct val="100000"/>
              </a:lnSpc>
              <a:spcBef>
                <a:spcPts val="720"/>
              </a:spcBef>
            </a:pP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sz="11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</a:t>
            </a:r>
            <a:r>
              <a:rPr sz="1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1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1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URLs</a:t>
            </a: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1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https://github.com/linhptk2920/IBM-Data-Science-Capstone/blob/main/lab_jupyter_launch_site_location.ipynb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557" y="121567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Folium</a:t>
            </a:r>
            <a:r>
              <a:rPr spc="-55" dirty="0"/>
              <a:t> </a:t>
            </a:r>
            <a:r>
              <a:rPr dirty="0"/>
              <a:t>Map</a:t>
            </a:r>
            <a:r>
              <a:rPr spc="-4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xfrm>
            <a:off x="1743259" y="3107485"/>
            <a:ext cx="2280784" cy="706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 err="1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5B31B0-23E3-337A-E5CE-A29260673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57" y="716531"/>
            <a:ext cx="5058945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C72C-A77E-343D-EB31-CB15FC28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7F7B6F-35FA-C206-D994-08F5EE6EAF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984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Folium</a:t>
            </a:r>
            <a:r>
              <a:rPr spc="-55" dirty="0"/>
              <a:t> </a:t>
            </a:r>
            <a:r>
              <a:rPr dirty="0"/>
              <a:t>Map</a:t>
            </a:r>
            <a:r>
              <a:rPr spc="-4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653D79B-383E-A25A-AF87-64D87E6BB83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909921" y="3047676"/>
            <a:ext cx="1945958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903A56-11ED-D3EC-FB20-47B9C68E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6" y="708025"/>
            <a:ext cx="4843414" cy="22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59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557" y="222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Plotly</a:t>
            </a:r>
            <a:r>
              <a:rPr spc="-75" dirty="0"/>
              <a:t> </a:t>
            </a:r>
            <a:r>
              <a:rPr spc="-10" dirty="0"/>
              <a:t>Dash</a:t>
            </a:r>
            <a:r>
              <a:rPr spc="-7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xfrm>
            <a:off x="1909921" y="3047676"/>
            <a:ext cx="1945958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10" dirty="0"/>
              <a:t>20</a:t>
            </a:fld>
            <a:r>
              <a:rPr spc="-10" dirty="0"/>
              <a:t>/14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62B1DB-2056-8680-58D1-F53759A29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062" y="936625"/>
            <a:ext cx="4061269" cy="20595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0700" y="555625"/>
            <a:ext cx="24936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343" y="1165225"/>
            <a:ext cx="78713" cy="787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343" y="1547330"/>
            <a:ext cx="78713" cy="787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0210" y="860425"/>
            <a:ext cx="5355590" cy="10085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b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1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</a:t>
            </a:r>
            <a:r>
              <a:rPr sz="11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1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360680">
              <a:lnSpc>
                <a:spcPct val="106300"/>
              </a:lnSpc>
              <a:spcBef>
                <a:spcPts val="259"/>
              </a:spcBef>
            </a:pPr>
            <a:r>
              <a:rPr sz="11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Tested:</a:t>
            </a:r>
            <a:r>
              <a:rPr sz="11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Regression,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(SVM),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Tree,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(KNN).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9560" marR="5080">
              <a:lnSpc>
                <a:spcPct val="106200"/>
              </a:lnSpc>
              <a:spcBef>
                <a:spcPts val="250"/>
              </a:spcBef>
            </a:pPr>
            <a:r>
              <a:rPr sz="1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sz="11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sz="11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(approx.</a:t>
            </a:r>
            <a:r>
              <a:rPr sz="11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83.3% </a:t>
            </a:r>
            <a:r>
              <a:rPr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accuracy),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1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11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sz="11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sz="11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SVM)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1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11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hyperparameter </a:t>
            </a:r>
            <a:r>
              <a:rPr sz="11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</a:t>
            </a:r>
            <a:r>
              <a:rPr sz="11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DD30F-9633-11B2-D17D-E3C2558B9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A45C4C-E964-4A45-0064-0E34C36BF1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557" y="98425"/>
            <a:ext cx="4447650" cy="662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Predictive</a:t>
            </a:r>
            <a:r>
              <a:rPr spc="-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6546D31-FB9B-6C00-5FC9-A9F043E6354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1909921" y="3047676"/>
            <a:ext cx="1945958" cy="9239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spc="-10" dirty="0"/>
              <a:t>July</a:t>
            </a:r>
            <a:r>
              <a:rPr spc="-15" dirty="0"/>
              <a:t> </a:t>
            </a:r>
            <a:r>
              <a:rPr lang="en-US" spc="-35" dirty="0"/>
              <a:t>26</a:t>
            </a:r>
            <a:r>
              <a:rPr spc="-35" dirty="0"/>
              <a:t>,</a:t>
            </a:r>
            <a:r>
              <a:rPr spc="-60" dirty="0"/>
              <a:t> </a:t>
            </a:r>
            <a:r>
              <a:rPr spc="-20" dirty="0"/>
              <a:t>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49110-838E-FB1A-BC3B-D635BEF3E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00" y="631825"/>
            <a:ext cx="4873808" cy="224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2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932</Words>
  <Application>Microsoft Office PowerPoint</Application>
  <PresentationFormat>Custom</PresentationFormat>
  <Paragraphs>109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Data Collection – SpaceX API</vt:lpstr>
      <vt:lpstr>Data Collection – Web Scraping</vt:lpstr>
      <vt:lpstr>Data Wrangling Methodology</vt:lpstr>
      <vt:lpstr>EDA with Data Visualization</vt:lpstr>
      <vt:lpstr>EDA Visualization Results 1</vt:lpstr>
      <vt:lpstr>EDA Visualization Results 2</vt:lpstr>
      <vt:lpstr>EDA with SQL</vt:lpstr>
      <vt:lpstr>EDA with SQL Results</vt:lpstr>
      <vt:lpstr>EDA with SQL Results</vt:lpstr>
      <vt:lpstr>EDA with SQL Results</vt:lpstr>
      <vt:lpstr>EDA with SQL Results</vt:lpstr>
      <vt:lpstr>EDA with SQL Results</vt:lpstr>
      <vt:lpstr>EDA with SQL Results</vt:lpstr>
      <vt:lpstr>Interactive Visual Analytics</vt:lpstr>
      <vt:lpstr>Folium Map Results</vt:lpstr>
      <vt:lpstr>Folium Map Results</vt:lpstr>
      <vt:lpstr>Plotly Dash Results</vt:lpstr>
      <vt:lpstr>Predictive Analysis</vt:lpstr>
      <vt:lpstr>Predictive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Capstone Project Report - SpaceX Falcon 9 First Stage Landing Prediction</dc:title>
  <dc:creator>[Your Name Here]</dc:creator>
  <cp:lastModifiedBy>Linh phạm</cp:lastModifiedBy>
  <cp:revision>15</cp:revision>
  <dcterms:created xsi:type="dcterms:W3CDTF">2026-05-30T12:59:58Z</dcterms:created>
  <dcterms:modified xsi:type="dcterms:W3CDTF">2026-07-26T10:08:10Z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2026-05-30T00:00:00Z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2026-05-30T00:00:00Z</vt:filetime>
  </property>
  <property fmtid="{D5CDD505-2E9C-101B-9397-08002B2CF9AE}" pid="5" name="Producer">
    <vt:lpwstr>3-Heights(TM) PDF Security Shell 4.8.25.2 (http://www.pdf-tools.com)</vt:lpwstr>
  </property>
</Properties>
</file>